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7" dt="2026-10-22T09:41:47.782"/>
    <p1510:client id="{71625843-5043-C120-FF09-4231C89781E4}" v="103" dt="2026-10-23T06:08:33.408"/>
    <p1510:client id="{A09101C0-087A-4A5B-93CD-92BC5FAC04E8}" v="3" dt="2026-10-22T14:24:20.062"/>
    <p1510:client id="{C5AE24AA-D636-7D4C-390C-897DBA5CDD16}" v="198" dt="2026-10-22T10:18:23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46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35D88-EB18-4629-9110-6F13D7B0106C}" type="datetimeFigureOut">
              <a:t>10/23/2026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D386F-CC3B-4B4C-BA06-407ADDAB06C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59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 dirty="0">
              <a:latin typeface="IBM Plex Sans" panose="020B050305020300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224" y="721015"/>
            <a:ext cx="10607040" cy="68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IBM Plex Sans"/>
                <a:ea typeface="Aptos" pitchFamily="34" charset="-122"/>
                <a:cs typeface="Aptos" pitchFamily="34" charset="-120"/>
              </a:rPr>
              <a:t>SkillUp Hackathon in collaboration with IBM SkillsBuild</a:t>
            </a:r>
            <a:endParaRPr lang="en-US" sz="2800" dirty="0">
              <a:solidFill>
                <a:srgbClr val="0070C0"/>
              </a:solidFill>
              <a:latin typeface="IBM Plex Sans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2400" b="1" dirty="0">
              <a:solidFill>
                <a:srgbClr val="17365D"/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8096" y="17830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kern="0" spc="70" dirty="0">
                <a:solidFill>
                  <a:srgbClr val="0070C0"/>
                </a:solidFill>
                <a:latin typeface="IBM Plex Sans" panose="020B0503050203000203" pitchFamily="34" charset="0"/>
                <a:ea typeface="Aptos" pitchFamily="34" charset="-122"/>
                <a:cs typeface="Aptos" pitchFamily="34" charset="-120"/>
              </a:rPr>
              <a:t>NATIONAL FINALE</a:t>
            </a:r>
            <a:endParaRPr lang="en-US" sz="3900" dirty="0">
              <a:solidFill>
                <a:srgbClr val="0070C0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2706624"/>
            <a:ext cx="10625328" cy="0"/>
          </a:xfrm>
          <a:prstGeom prst="line">
            <a:avLst/>
          </a:prstGeom>
          <a:noFill/>
          <a:ln w="1714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6384" y="2976880"/>
            <a:ext cx="10332720" cy="9902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700" b="1" i="1" dirty="0">
                <a:latin typeface="IBM Plex Sans"/>
              </a:rPr>
              <a:t>Solar Hybrid Agri Cool Hub 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Solar-Powered Smart Crop Preservation and Transportation Monitoring System</a:t>
            </a:r>
          </a:p>
        </p:txBody>
      </p:sp>
      <p:sp>
        <p:nvSpPr>
          <p:cNvPr id="9" name="Shape 7"/>
          <p:cNvSpPr/>
          <p:nvPr/>
        </p:nvSpPr>
        <p:spPr>
          <a:xfrm>
            <a:off x="786384" y="4224528"/>
            <a:ext cx="10616184" cy="0"/>
          </a:xfrm>
          <a:prstGeom prst="line">
            <a:avLst/>
          </a:prstGeom>
          <a:noFill/>
          <a:ln w="10795">
            <a:solidFill>
              <a:srgbClr val="E0E5E9"/>
            </a:solidFill>
            <a:prstDash val="solid"/>
          </a:ln>
        </p:spPr>
        <p:txBody>
          <a:bodyPr/>
          <a:lstStyle/>
          <a:p>
            <a:endParaRPr lang="en-IN" dirty="0">
              <a:latin typeface="IBM Plex Sans" panose="020B050305020300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5528" y="43454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45" dirty="0">
                <a:solidFill>
                  <a:srgbClr val="0070C0"/>
                </a:solidFill>
                <a:latin typeface="IBM Plex Sans" panose="020B0503050203000203" pitchFamily="34" charset="0"/>
                <a:ea typeface="Aptos" pitchFamily="34" charset="-122"/>
                <a:cs typeface="Aptos" pitchFamily="34" charset="-120"/>
              </a:rPr>
              <a:t>COLLEGE NAME</a:t>
            </a:r>
            <a:endParaRPr lang="en-US" sz="1100" dirty="0">
              <a:solidFill>
                <a:srgbClr val="0070C0"/>
              </a:solidFill>
              <a:latin typeface="IBM Plex Sans" panose="020B050305020300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528" y="4600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i="1" dirty="0">
                <a:latin typeface="IBM Plex Sans"/>
              </a:rPr>
              <a:t>G. Pulla Reddy Engineering College</a:t>
            </a:r>
            <a:endParaRPr lang="en-US" dirty="0">
              <a:latin typeface="IBM Plex San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50000" y="43454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45" dirty="0">
                <a:solidFill>
                  <a:srgbClr val="0070C0"/>
                </a:solidFill>
                <a:latin typeface="IBM Plex Sans" panose="020B0503050203000203" pitchFamily="34" charset="0"/>
                <a:ea typeface="Aptos" pitchFamily="34" charset="-122"/>
                <a:cs typeface="Aptos" pitchFamily="34" charset="-120"/>
              </a:rPr>
              <a:t>TEAM NAME</a:t>
            </a:r>
            <a:endParaRPr lang="en-US" sz="1100" dirty="0">
              <a:solidFill>
                <a:srgbClr val="0070C0"/>
              </a:solidFill>
              <a:latin typeface="IBM Plex Sans" panose="020B050305020300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50000" y="46004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i="1" dirty="0">
                <a:latin typeface="IBM Plex Sans"/>
              </a:rPr>
              <a:t>Limited Edition</a:t>
            </a:r>
            <a:endParaRPr lang="en-US" dirty="0">
              <a:latin typeface="IBM Plex Sa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" y="53461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45" dirty="0">
                <a:solidFill>
                  <a:srgbClr val="0070C0"/>
                </a:solidFill>
                <a:latin typeface="IBM Plex Sans" panose="020B0503050203000203" pitchFamily="34" charset="0"/>
                <a:ea typeface="Aptos" pitchFamily="34" charset="-122"/>
                <a:cs typeface="Aptos" pitchFamily="34" charset="-120"/>
              </a:rPr>
              <a:t>TEAM MEMBERS</a:t>
            </a:r>
            <a:endParaRPr lang="en-US" sz="1100" dirty="0">
              <a:solidFill>
                <a:srgbClr val="0070C0"/>
              </a:solidFill>
              <a:latin typeface="IBM Plex Sans" panose="020B050305020300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5528" y="55910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i="1" dirty="0">
                <a:latin typeface="IBM Plex Sans"/>
              </a:rPr>
              <a:t>N. HARSHAVARDHAN,  M. BHARANI KUMAR REDDY,  T. SHIREESHA,  S. SAI SHARATH,  S. NASEEHA MASHRATH  </a:t>
            </a:r>
            <a:endParaRPr lang="en-US" sz="1700" dirty="0">
              <a:latin typeface="IBM Plex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1B9A6-9A2A-D149-14DB-697B9EA1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88" y="6152222"/>
            <a:ext cx="11358114" cy="5057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4576AF-B441-DB8C-5EDF-2948EE60A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532" y="4178637"/>
            <a:ext cx="1274370" cy="12740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131D76-3C01-EEF2-8005-42953A83B9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571" b="11761"/>
          <a:stretch>
            <a:fillRect/>
          </a:stretch>
        </p:blipFill>
        <p:spPr>
          <a:xfrm>
            <a:off x="8940908" y="4297338"/>
            <a:ext cx="1765412" cy="1318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1960" y="429965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Problem &amp; Solution Statement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 flipV="1">
            <a:off x="541960" y="959144"/>
            <a:ext cx="10869752" cy="14160"/>
          </a:xfrm>
          <a:prstGeom prst="line">
            <a:avLst/>
          </a:prstGeom>
          <a:noFill/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0930" y="97330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 kern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6384" y="3245137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 kern="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Statement</a:t>
            </a:r>
          </a:p>
        </p:txBody>
      </p:sp>
      <p:sp>
        <p:nvSpPr>
          <p:cNvPr id="9" name="Text 7"/>
          <p:cNvSpPr/>
          <p:nvPr/>
        </p:nvSpPr>
        <p:spPr>
          <a:xfrm>
            <a:off x="794206" y="4583675"/>
            <a:ext cx="10298789" cy="851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BCEB5E-94DA-3D9A-6396-E9774B735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88" y="6152222"/>
            <a:ext cx="11358114" cy="505782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FB1C7D04-8D8F-68E6-0868-437D5EDACB85}"/>
              </a:ext>
            </a:extLst>
          </p:cNvPr>
          <p:cNvSpPr/>
          <p:nvPr/>
        </p:nvSpPr>
        <p:spPr>
          <a:xfrm>
            <a:off x="541960" y="3090810"/>
            <a:ext cx="10850776" cy="6927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>
              <a:latin typeface="IBM Plex Sans" panose="020B050305020300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08BF5-F79D-C196-28BE-AD5F55C2A0C8}"/>
              </a:ext>
            </a:extLst>
          </p:cNvPr>
          <p:cNvSpPr txBox="1"/>
          <p:nvPr/>
        </p:nvSpPr>
        <p:spPr>
          <a:xfrm>
            <a:off x="471949" y="1254252"/>
            <a:ext cx="4729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cap="all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Affected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holder farmers &amp; transport operators in rural India face significant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post-harvest crop losses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unmonitored storage conditions during transportation.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C7CC82-4D61-4A9A-EB66-D0A0E2F34CC9}"/>
              </a:ext>
            </a:extLst>
          </p:cNvPr>
          <p:cNvSpPr txBox="1"/>
          <p:nvPr/>
        </p:nvSpPr>
        <p:spPr>
          <a:xfrm>
            <a:off x="5943600" y="1204656"/>
            <a:ext cx="55563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cap="all" dirty="0">
                <a:solidFill>
                  <a:schemeClr val="accent4">
                    <a:lumMod val="75000"/>
                  </a:schemeClr>
                </a:solidFill>
              </a:rPr>
              <a:t>Key Challenges</a:t>
            </a:r>
            <a:endParaRPr lang="en-IN" sz="1400" dirty="0">
              <a:solidFill>
                <a:schemeClr val="accent4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way to monitor temperature, humidity, or gas levels inside a sealed moving storage unit.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Spoilage is discovered only at the destination too late to save the produce.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011939-8B67-63F2-69DD-C2DB521FAD31}"/>
              </a:ext>
            </a:extLst>
          </p:cNvPr>
          <p:cNvSpPr txBox="1"/>
          <p:nvPr/>
        </p:nvSpPr>
        <p:spPr>
          <a:xfrm>
            <a:off x="437224" y="2281092"/>
            <a:ext cx="5363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cap="all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Solutions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cold-chain IoT systems are priced for large logistics companies unaffordable for small farms.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0E8CD-F492-A3CD-1C68-B4B3FB25ABB1}"/>
              </a:ext>
            </a:extLst>
          </p:cNvPr>
          <p:cNvSpPr txBox="1"/>
          <p:nvPr/>
        </p:nvSpPr>
        <p:spPr>
          <a:xfrm>
            <a:off x="5645760" y="2372969"/>
            <a:ext cx="6596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checks are infrequent, unreliable, and provide no real-time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affordable, solar-capable, connected solution exists for last-mile agricultural transport.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54159-837E-A1E1-30F3-FA8BA78DDE80}"/>
              </a:ext>
            </a:extLst>
          </p:cNvPr>
          <p:cNvSpPr txBox="1"/>
          <p:nvPr/>
        </p:nvSpPr>
        <p:spPr>
          <a:xfrm>
            <a:off x="474561" y="3541844"/>
            <a:ext cx="5621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Hybrid Agri Cool Hub: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IoT-powered smart preservation system that actively cools (Peltier module), humidifies (solar-powered), and continuously monitors crop storage conditions.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96C10-3E12-A8F9-9D4F-8189503FDA3E}"/>
              </a:ext>
            </a:extLst>
          </p:cNvPr>
          <p:cNvSpPr txBox="1"/>
          <p:nvPr/>
        </p:nvSpPr>
        <p:spPr>
          <a:xfrm>
            <a:off x="472510" y="4766537"/>
            <a:ext cx="5401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cap="all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measure temp, humidity &amp; gas every 15 s → encrypted to cloud → alert engine → farmer notified instantly on Android app or web dashboard.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F68D9A-2D14-E551-2454-677F957007AE}"/>
              </a:ext>
            </a:extLst>
          </p:cNvPr>
          <p:cNvSpPr txBox="1"/>
          <p:nvPr/>
        </p:nvSpPr>
        <p:spPr>
          <a:xfrm>
            <a:off x="5683176" y="3281786"/>
            <a:ext cx="624261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cap="all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Benefits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&amp; CRITICAL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before spoilage occurs  time to act.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resilience  no data lost during connectivity outages; replayed automatically.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Solar-hybrid power reduces electricity costs for rural, off-grid deployments.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F5BD21-9814-ADD6-48E8-44DE53094521}"/>
              </a:ext>
            </a:extLst>
          </p:cNvPr>
          <p:cNvSpPr txBox="1"/>
          <p:nvPr/>
        </p:nvSpPr>
        <p:spPr>
          <a:xfrm>
            <a:off x="5911567" y="5020723"/>
            <a:ext cx="5709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Impact</a:t>
            </a:r>
          </a:p>
          <a:p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dirty="0"/>
              <a:t>Reduced post-harvest losses → higher crop quality → better farmer income → </a:t>
            </a:r>
            <a:r>
              <a:rPr lang="en-IN" b="1" dirty="0"/>
              <a:t>sustainable food supply chains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4425F3D-F083-6BE6-BC44-1DD0034617B4}"/>
              </a:ext>
            </a:extLst>
          </p:cNvPr>
          <p:cNvSpPr/>
          <p:nvPr/>
        </p:nvSpPr>
        <p:spPr>
          <a:xfrm>
            <a:off x="668833" y="4959084"/>
            <a:ext cx="5197243" cy="5597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2AE8834-45E4-6507-D6F1-5A11AE5644A0}"/>
              </a:ext>
            </a:extLst>
          </p:cNvPr>
          <p:cNvSpPr/>
          <p:nvPr/>
        </p:nvSpPr>
        <p:spPr>
          <a:xfrm>
            <a:off x="676124" y="5711687"/>
            <a:ext cx="5419876" cy="5873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28D6E14-D51A-6EDC-CF17-60B684F49F49}"/>
              </a:ext>
            </a:extLst>
          </p:cNvPr>
          <p:cNvSpPr/>
          <p:nvPr/>
        </p:nvSpPr>
        <p:spPr>
          <a:xfrm>
            <a:off x="6325925" y="5072749"/>
            <a:ext cx="4808945" cy="10794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 dirty="0">
              <a:latin typeface="IBM Plex Sans" panose="020B050305020300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8096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IBM Plex Sans"/>
                <a:ea typeface="+mn-lt"/>
                <a:cs typeface="+mn-lt"/>
              </a:rPr>
              <a:t>Project Architecture &amp; IBM Bob Technology </a:t>
            </a:r>
          </a:p>
        </p:txBody>
      </p:sp>
      <p:sp>
        <p:nvSpPr>
          <p:cNvPr id="4" name="Shape 2"/>
          <p:cNvSpPr/>
          <p:nvPr/>
        </p:nvSpPr>
        <p:spPr>
          <a:xfrm>
            <a:off x="768096" y="1234440"/>
            <a:ext cx="10643616" cy="0"/>
          </a:xfrm>
          <a:prstGeom prst="line">
            <a:avLst/>
          </a:prstGeom>
          <a:noFill/>
          <a:ln w="15875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IN" dirty="0">
              <a:latin typeface="IBM Plex Sans" panose="020B050305020300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63E72-CDDB-F56C-3B8D-01CC24092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88" y="6152222"/>
            <a:ext cx="11358114" cy="5057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FA7B7F-804A-A517-736B-DB2306E6F7C6}"/>
              </a:ext>
            </a:extLst>
          </p:cNvPr>
          <p:cNvSpPr txBox="1"/>
          <p:nvPr/>
        </p:nvSpPr>
        <p:spPr>
          <a:xfrm>
            <a:off x="851713" y="1243254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IBM Plex Sans"/>
                <a:ea typeface="+mn-lt"/>
                <a:cs typeface="+mn-lt"/>
              </a:rPr>
              <a:t>Project Architecture: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34EFB1-A4F3-9002-ED3D-098AA3247B6D}"/>
              </a:ext>
            </a:extLst>
          </p:cNvPr>
          <p:cNvSpPr/>
          <p:nvPr/>
        </p:nvSpPr>
        <p:spPr>
          <a:xfrm>
            <a:off x="652348" y="1548255"/>
            <a:ext cx="3272755" cy="2957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D184B-D476-0DE7-58DA-04C2B92E6322}"/>
              </a:ext>
            </a:extLst>
          </p:cNvPr>
          <p:cNvSpPr txBox="1"/>
          <p:nvPr/>
        </p:nvSpPr>
        <p:spPr>
          <a:xfrm>
            <a:off x="851713" y="1548255"/>
            <a:ext cx="26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SYSTEM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EBA22E-8A72-66B0-715A-CABF07FE77F7}"/>
              </a:ext>
            </a:extLst>
          </p:cNvPr>
          <p:cNvSpPr txBox="1"/>
          <p:nvPr/>
        </p:nvSpPr>
        <p:spPr>
          <a:xfrm>
            <a:off x="768096" y="1966892"/>
            <a:ext cx="3090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ESP32-S3 - C/C++ - SHT4x - MQ-3 / MQ-135 / MQ-4 - INA219 - GPS - RTC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54924-F905-3220-C5AF-4A9C0C3931B9}"/>
              </a:ext>
            </a:extLst>
          </p:cNvPr>
          <p:cNvSpPr txBox="1"/>
          <p:nvPr/>
        </p:nvSpPr>
        <p:spPr>
          <a:xfrm>
            <a:off x="768096" y="1796713"/>
            <a:ext cx="1979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</a:rPr>
              <a:t>Hardware &amp; Firmware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1589B-D6E0-0A4F-3117-D36497467C8A}"/>
              </a:ext>
            </a:extLst>
          </p:cNvPr>
          <p:cNvSpPr txBox="1"/>
          <p:nvPr/>
        </p:nvSpPr>
        <p:spPr>
          <a:xfrm>
            <a:off x="749760" y="2217995"/>
            <a:ext cx="30904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Communication</a:t>
            </a:r>
          </a:p>
          <a:p>
            <a:pPr lvl="0"/>
            <a:r>
              <a:rPr lang="en-IN" sz="1000" dirty="0" err="1"/>
              <a:t>HiveMQ</a:t>
            </a:r>
            <a:r>
              <a:rPr lang="en-IN" sz="1000" dirty="0"/>
              <a:t> Cloud MQTT QoS 1, TLS, Last Will and Testament (LWT)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1C0863-60CA-926E-8D16-3AC291BC1472}"/>
              </a:ext>
            </a:extLst>
          </p:cNvPr>
          <p:cNvSpPr txBox="1"/>
          <p:nvPr/>
        </p:nvSpPr>
        <p:spPr>
          <a:xfrm>
            <a:off x="749760" y="2698161"/>
            <a:ext cx="317405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Backend API</a:t>
            </a:r>
          </a:p>
          <a:p>
            <a:r>
              <a:rPr lang="en-IN" sz="1000" dirty="0"/>
              <a:t>Python 3.11 - </a:t>
            </a:r>
            <a:r>
              <a:rPr lang="en-IN" sz="1000" dirty="0" err="1"/>
              <a:t>FastAPI</a:t>
            </a:r>
            <a:r>
              <a:rPr lang="en-IN" sz="1000" dirty="0"/>
              <a:t> - </a:t>
            </a:r>
            <a:r>
              <a:rPr lang="en-IN" sz="1000" dirty="0" err="1"/>
              <a:t>Pydantic</a:t>
            </a:r>
            <a:r>
              <a:rPr lang="en-IN" sz="1000" dirty="0"/>
              <a:t> validation - Alert engine - SSE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9CAA5-19CF-2CCB-13DD-5378A1ECAFDB}"/>
              </a:ext>
            </a:extLst>
          </p:cNvPr>
          <p:cNvSpPr txBox="1"/>
          <p:nvPr/>
        </p:nvSpPr>
        <p:spPr>
          <a:xfrm>
            <a:off x="749760" y="3214805"/>
            <a:ext cx="289626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Database </a:t>
            </a:r>
          </a:p>
          <a:p>
            <a:r>
              <a:rPr lang="en-US" sz="1000" dirty="0"/>
              <a:t>PostgreSQL 15 - Stores devices, telemetry, alerts, and thresholds.</a:t>
            </a:r>
            <a:endParaRPr lang="en-IN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37B4AC-B75B-B2AE-7172-1F9F4DA8A118}"/>
              </a:ext>
            </a:extLst>
          </p:cNvPr>
          <p:cNvSpPr txBox="1"/>
          <p:nvPr/>
        </p:nvSpPr>
        <p:spPr>
          <a:xfrm>
            <a:off x="720574" y="3711130"/>
            <a:ext cx="245612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Client Applications </a:t>
            </a:r>
          </a:p>
          <a:p>
            <a:r>
              <a:rPr lang="en-IN" sz="1000" dirty="0"/>
              <a:t>Android (Java/Kotlin) - React dashboard – </a:t>
            </a:r>
          </a:p>
          <a:p>
            <a:r>
              <a:rPr lang="en-IN" sz="1000" dirty="0"/>
              <a:t>Retrofit - Recharts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D62BAE-767C-9677-3D4F-9F0EA66D68E5}"/>
              </a:ext>
            </a:extLst>
          </p:cNvPr>
          <p:cNvSpPr/>
          <p:nvPr/>
        </p:nvSpPr>
        <p:spPr>
          <a:xfrm>
            <a:off x="4118024" y="1762719"/>
            <a:ext cx="2488557" cy="73126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CE8FDA-FA94-1E09-87C6-88945ED9A914}"/>
              </a:ext>
            </a:extLst>
          </p:cNvPr>
          <p:cNvSpPr txBox="1"/>
          <p:nvPr/>
        </p:nvSpPr>
        <p:spPr>
          <a:xfrm>
            <a:off x="4201641" y="1983497"/>
            <a:ext cx="24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Sensors Collect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F7BF63-14B9-91E9-7686-0638249F9AA8}"/>
              </a:ext>
            </a:extLst>
          </p:cNvPr>
          <p:cNvSpPr txBox="1"/>
          <p:nvPr/>
        </p:nvSpPr>
        <p:spPr>
          <a:xfrm>
            <a:off x="9155575" y="21644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AA9CB81-C34A-13FD-55B1-C7902EBE5D38}"/>
              </a:ext>
            </a:extLst>
          </p:cNvPr>
          <p:cNvSpPr/>
          <p:nvPr/>
        </p:nvSpPr>
        <p:spPr>
          <a:xfrm>
            <a:off x="6805945" y="1749301"/>
            <a:ext cx="2488557" cy="7312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3AE182B-E29A-A725-D368-D529389C2575}"/>
              </a:ext>
            </a:extLst>
          </p:cNvPr>
          <p:cNvSpPr/>
          <p:nvPr/>
        </p:nvSpPr>
        <p:spPr>
          <a:xfrm>
            <a:off x="9493866" y="1732921"/>
            <a:ext cx="2488557" cy="73126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7379DD1-EE8E-E8F1-DE15-BCE8DD895A24}"/>
              </a:ext>
            </a:extLst>
          </p:cNvPr>
          <p:cNvSpPr/>
          <p:nvPr/>
        </p:nvSpPr>
        <p:spPr>
          <a:xfrm>
            <a:off x="4171579" y="2849170"/>
            <a:ext cx="2488557" cy="73126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5AA727D-AE75-775C-0FF4-7821155EA1FF}"/>
              </a:ext>
            </a:extLst>
          </p:cNvPr>
          <p:cNvSpPr/>
          <p:nvPr/>
        </p:nvSpPr>
        <p:spPr>
          <a:xfrm>
            <a:off x="6907897" y="2815707"/>
            <a:ext cx="2488557" cy="73126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A2FE182-7274-B4DB-98F0-539855D99BDB}"/>
              </a:ext>
            </a:extLst>
          </p:cNvPr>
          <p:cNvSpPr/>
          <p:nvPr/>
        </p:nvSpPr>
        <p:spPr>
          <a:xfrm>
            <a:off x="9522455" y="2786817"/>
            <a:ext cx="2488557" cy="73126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F7D8A6-AB5E-FC75-FFBD-FF99F87DDE21}"/>
              </a:ext>
            </a:extLst>
          </p:cNvPr>
          <p:cNvSpPr txBox="1"/>
          <p:nvPr/>
        </p:nvSpPr>
        <p:spPr>
          <a:xfrm>
            <a:off x="7123487" y="1966892"/>
            <a:ext cx="18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Create Telemetry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9A96B6-3F8B-4487-C518-E84F8C6CF4D5}"/>
              </a:ext>
            </a:extLst>
          </p:cNvPr>
          <p:cNvSpPr txBox="1"/>
          <p:nvPr/>
        </p:nvSpPr>
        <p:spPr>
          <a:xfrm>
            <a:off x="9775708" y="1979800"/>
            <a:ext cx="2113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MQTT Transmission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A60D3B-98FE-1AC5-A588-752B9DC6904E}"/>
              </a:ext>
            </a:extLst>
          </p:cNvPr>
          <p:cNvSpPr txBox="1"/>
          <p:nvPr/>
        </p:nvSpPr>
        <p:spPr>
          <a:xfrm>
            <a:off x="4231080" y="3030138"/>
            <a:ext cx="219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Backend Processing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3B09A4-55CD-776B-40B0-84C4E78FE340}"/>
              </a:ext>
            </a:extLst>
          </p:cNvPr>
          <p:cNvSpPr txBox="1"/>
          <p:nvPr/>
        </p:nvSpPr>
        <p:spPr>
          <a:xfrm>
            <a:off x="7086394" y="3005937"/>
            <a:ext cx="1952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Database Storage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4AE7E9-C9F6-0E95-583F-6AD84A4CFC82}"/>
              </a:ext>
            </a:extLst>
          </p:cNvPr>
          <p:cNvSpPr txBox="1"/>
          <p:nvPr/>
        </p:nvSpPr>
        <p:spPr>
          <a:xfrm>
            <a:off x="9762151" y="2985861"/>
            <a:ext cx="1945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User Applications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6D9CA8-FE60-4C5A-32B1-0E7E165D4C40}"/>
              </a:ext>
            </a:extLst>
          </p:cNvPr>
          <p:cNvSpPr txBox="1"/>
          <p:nvPr/>
        </p:nvSpPr>
        <p:spPr>
          <a:xfrm>
            <a:off x="4130424" y="3711130"/>
            <a:ext cx="786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/devices </a:t>
            </a:r>
            <a:r>
              <a:rPr lang="en-IN" dirty="0"/>
              <a:t>• /status • /telemetry • /alerts/active • /thresholds • /stream • /health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CD1B0E-BD15-E417-D3B3-B45643165686}"/>
              </a:ext>
            </a:extLst>
          </p:cNvPr>
          <p:cNvSpPr txBox="1"/>
          <p:nvPr/>
        </p:nvSpPr>
        <p:spPr>
          <a:xfrm>
            <a:off x="676124" y="4505892"/>
            <a:ext cx="5861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IBM Bob - Role in Development : PLAN 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b="1" dirty="0"/>
              <a:t>AGENT</a:t>
            </a:r>
            <a:r>
              <a:rPr lang="en-IN" b="1" dirty="0">
                <a:sym typeface="Wingdings" panose="05000000000000000000" pitchFamily="2" charset="2"/>
              </a:rPr>
              <a:t> ASK</a:t>
            </a:r>
            <a:endParaRPr lang="en-IN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5A0E15-5F1B-7000-1C8A-FA79A0987D3E}"/>
              </a:ext>
            </a:extLst>
          </p:cNvPr>
          <p:cNvSpPr txBox="1"/>
          <p:nvPr/>
        </p:nvSpPr>
        <p:spPr>
          <a:xfrm>
            <a:off x="668833" y="4735939"/>
            <a:ext cx="63248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Planning: PLAN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IN" sz="1200" dirty="0"/>
              <a:t>Helped design end-to-end IoT architecture.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IN" sz="1200" dirty="0"/>
              <a:t>Defined JSON schema, MQTT topics, database models, and alert logic.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IN" sz="1200" dirty="0"/>
              <a:t>Planned API structure and client applications.</a:t>
            </a:r>
          </a:p>
          <a:p>
            <a:r>
              <a:rPr lang="en-IN" sz="1200" b="1" dirty="0"/>
              <a:t>Code Generation: AGENT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IN" sz="1200" dirty="0"/>
              <a:t>Assists with modular ESP32 firmware (sensor reading, MQTT, JSON serialization).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IN" sz="1200" dirty="0"/>
              <a:t>Generates </a:t>
            </a:r>
            <a:r>
              <a:rPr lang="en-IN" sz="1200" dirty="0" err="1"/>
              <a:t>FastAPI</a:t>
            </a:r>
            <a:r>
              <a:rPr lang="en-IN" sz="1200" dirty="0"/>
              <a:t> backend (APIs, MQTT subscriber, alert engine).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IN" sz="1200" dirty="0"/>
              <a:t>Develops Android app (Java/Kotlin UI, charts, maps).</a:t>
            </a:r>
          </a:p>
          <a:p>
            <a:pPr lvl="0"/>
            <a:endParaRPr lang="en-IN" sz="1200" dirty="0"/>
          </a:p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832F9E-0D6D-FDDD-3B9E-517B625075B0}"/>
              </a:ext>
            </a:extLst>
          </p:cNvPr>
          <p:cNvSpPr txBox="1"/>
          <p:nvPr/>
        </p:nvSpPr>
        <p:spPr>
          <a:xfrm>
            <a:off x="6325924" y="4823974"/>
            <a:ext cx="509748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Debugging: ASK+AGENT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400" dirty="0"/>
              <a:t>Helps investigate MQTT payload issues.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400" dirty="0"/>
              <a:t>Resolves sensor scaling and ADC problems.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400" dirty="0"/>
              <a:t>Fixes API schema mismatches and database errors.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400" dirty="0"/>
              <a:t>Troubleshoots network, TLS, and connection failures.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400" dirty="0"/>
              <a:t>Supports integration of hardware, backend, and mobile app.</a:t>
            </a:r>
          </a:p>
          <a:p>
            <a:endParaRPr lang="en-IN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8D658B-A055-87CE-5B0E-5C57C6595B1A}"/>
              </a:ext>
            </a:extLst>
          </p:cNvPr>
          <p:cNvSpPr txBox="1"/>
          <p:nvPr/>
        </p:nvSpPr>
        <p:spPr>
          <a:xfrm>
            <a:off x="6507477" y="197642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54E0C2-1B7A-E9B1-AF2F-1E085387F60F}"/>
              </a:ext>
            </a:extLst>
          </p:cNvPr>
          <p:cNvSpPr txBox="1"/>
          <p:nvPr/>
        </p:nvSpPr>
        <p:spPr>
          <a:xfrm>
            <a:off x="6582704" y="297587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E7DB7-53B6-BCB8-FE00-9CF4A40BF13A}"/>
              </a:ext>
            </a:extLst>
          </p:cNvPr>
          <p:cNvSpPr txBox="1"/>
          <p:nvPr/>
        </p:nvSpPr>
        <p:spPr>
          <a:xfrm>
            <a:off x="9204904" y="197142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615355-5C06-9852-CB86-1C6B72F89E6E}"/>
              </a:ext>
            </a:extLst>
          </p:cNvPr>
          <p:cNvSpPr txBox="1"/>
          <p:nvPr/>
        </p:nvSpPr>
        <p:spPr>
          <a:xfrm>
            <a:off x="9254642" y="3016505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74D74C0-FCD1-9A7D-4B13-C6B84FBF9371}"/>
              </a:ext>
            </a:extLst>
          </p:cNvPr>
          <p:cNvSpPr/>
          <p:nvPr/>
        </p:nvSpPr>
        <p:spPr>
          <a:xfrm>
            <a:off x="5314122" y="2491409"/>
            <a:ext cx="5380382" cy="304800"/>
          </a:xfrm>
          <a:custGeom>
            <a:avLst/>
            <a:gdLst>
              <a:gd name="csX0" fmla="*/ 5380382 w 5380382"/>
              <a:gd name="csY0" fmla="*/ 0 h 304800"/>
              <a:gd name="csX1" fmla="*/ 0 w 5380382"/>
              <a:gd name="csY1" fmla="*/ 304800 h 304800"/>
              <a:gd name="csX2" fmla="*/ 0 w 5380382"/>
              <a:gd name="csY2" fmla="*/ 304800 h 304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80382" h="304800">
                <a:moveTo>
                  <a:pt x="5380382" y="0"/>
                </a:moveTo>
                <a:lnTo>
                  <a:pt x="0" y="304800"/>
                </a:lnTo>
                <a:lnTo>
                  <a:pt x="0" y="30480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940762-677A-9F91-6547-C9D9FC74F030}"/>
              </a:ext>
            </a:extLst>
          </p:cNvPr>
          <p:cNvSpPr txBox="1"/>
          <p:nvPr/>
        </p:nvSpPr>
        <p:spPr>
          <a:xfrm rot="10226878">
            <a:off x="5066763" y="2626773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562</Words>
  <Application>Microsoft Office PowerPoint</Application>
  <PresentationFormat>Widescreen</PresentationFormat>
  <Paragraphs>74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IBM Plex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SkillUp Hackathon in Collaboration with IBM SkillsBuild – National Finale Template</dc:title>
  <dc:subject>Team presentation reference template for the IBM SkillsBuild National Finale</dc:subject>
  <dc:creator>SkillUp</dc:creator>
  <cp:lastModifiedBy>Neeli Harsha Vardhan</cp:lastModifiedBy>
  <cp:revision>38</cp:revision>
  <dcterms:created xsi:type="dcterms:W3CDTF">2026-10-22T09:06:35Z</dcterms:created>
  <dcterms:modified xsi:type="dcterms:W3CDTF">2026-10-23T16:32:51Z</dcterms:modified>
</cp:coreProperties>
</file>