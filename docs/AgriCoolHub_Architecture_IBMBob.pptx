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f277a16aa2644d0" /><Relationship Type="http://schemas.openxmlformats.org/package/2006/relationships/metadata/core-properties" Target="/docProps/core.xml" Id="R3512b649c49f4d61" /><Relationship Type="http://schemas.openxmlformats.org/officeDocument/2006/relationships/extended-properties" Target="/docProps/app.xml" Id="Ra5ee9cd914de4ee4" /><Relationship Type="http://schemas.openxmlformats.org/officeDocument/2006/relationships/custom-properties" Target="/docProps/custom.xml" Id="R30b41a93ca1c4615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5b12dede39934b1d"/>
  </p:notesMasterIdLst>
  <p:sldIdLst>
    <p:sldId id="256" r:id="Ra46eb48c66314590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a46eb48c66314590" /><Relationship Type="http://schemas.openxmlformats.org/officeDocument/2006/relationships/notesMaster" Target="/ppt/notesMasters/notesMaster1.xml" Id="R5b12dede39934b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ecbac5f0a3946f3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5f8dc60a0cd461c" /><Relationship Type="http://schemas.openxmlformats.org/officeDocument/2006/relationships/slide" Target="/ppt/slides/slide1.xml" Id="Rb4858426c7f941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covers two required sections: Project Architecture (5-layer flow: Hardware → MQTT → FastAPI → PostgreSQL → Android/React, with data flow and 8 APIs) and IBM Bob Technology (Planning, Code Generation, Debugging, Testing &amp; Documentation).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234fdaf4a84b7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92367e930a402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2b4457986244a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e756e9995646e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8c1f7399b847c9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d0c2640329e4ab8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e0d17b75f4e89" /><Relationship Type="http://schemas.openxmlformats.org/officeDocument/2006/relationships/notesSlide" Target="/ppt/notesSlides/notesSlide1.xml" Id="Rc9c7fe154ff648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/>
      <p:sp>
        <p:nvSpPr>
          <p:cNvPr id="100000" name="SlideTitle"/>
          <p:cNvSpPr txBox="1"/>
          <p:nvPr/>
        </p:nvSpPr>
        <p:spPr>
          <a:xfrm xmlns:a="http://schemas.openxmlformats.org/drawingml/2006/main">
            <a:off x="180000" y="144000"/>
            <a:ext cx="1152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Project Architecture  |  IBM Bob Technology</a:t>
            </a:r>
          </a:p>
        </p:txBody>
      </p:sp>
      <p:sp>
        <p:nvSpPr>
          <p:cNvPr id="100001" name="TitleRule"/>
          <p:cNvSpPr txBox="1"/>
          <p:nvPr/>
        </p:nvSpPr>
        <p:spPr>
          <a:xfrm xmlns:a="http://schemas.openxmlformats.org/drawingml/2006/main">
            <a:off x="180000" y="612000"/>
            <a:ext cx="1152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3B82F6"/>
              </a:solidFill>
            </a:endParaRPr>
          </a:p>
        </p:txBody>
      </p:sp>
      <p:sp>
        <p:nvSpPr>
          <p:cNvPr id="100002" name="ArchLabel"/>
          <p:cNvSpPr txBox="1"/>
          <p:nvPr/>
        </p:nvSpPr>
        <p:spPr>
          <a:xfrm xmlns:a="http://schemas.openxmlformats.org/drawingml/2006/main">
            <a:off x="180000" y="702000"/>
            <a:ext cx="1152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60A5FA"/>
                </a:solidFill>
              </a:rPr>
              <a:t>PROJECT ARCHITECTURE — Components, Technologies &amp; Data Flow</a:t>
            </a:r>
          </a:p>
        </p:txBody>
      </p:sp>
      <p:sp>
        <p:nvSpPr>
          <p:cNvPr id="100003" name="HW"/>
          <p:cNvSpPr txBox="1"/>
          <p:nvPr/>
        </p:nvSpPr>
        <p:spPr>
          <a:xfrm xmlns:a="http://schemas.openxmlformats.org/drawingml/2006/main">
            <a:off x="180000" y="954000"/>
            <a:ext cx="2088000" cy="24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32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1  HARDWARE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ESP32-S3 N16R8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Arduino / ESP-IDF C++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SHT4x Temp+RH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MQ-3 Ethanol Gas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MQ-135 Air Quality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MQ-4 Methane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INA219 Solar Power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NEO-6M GPS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DS3231 RTC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PSRAM 60-msg Buffer</a:t>
            </a:r>
          </a:p>
        </p:txBody>
      </p:sp>
      <p:sp>
        <p:nvSpPr>
          <p:cNvPr id="100004" name="ArrowA"/>
          <p:cNvSpPr txBox="1"/>
          <p:nvPr/>
        </p:nvSpPr>
        <p:spPr>
          <a:xfrm xmlns:a="http://schemas.openxmlformats.org/drawingml/2006/main">
            <a:off x="2322000" y="1764000"/>
            <a:ext cx="576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800" b="1">
                <a:solidFill>
                  <a:srgbClr val="A78BFA"/>
                </a:solidFill>
              </a:rPr>
              <a:t>MQTT TLS</a:t>
            </a:r>
          </a:p>
          <a:p xmlns:a="http://schemas.openxmlformats.org/drawingml/2006/main">
            <a:r>
              <a:rPr lang="en-US" sz="800" b="1">
                <a:solidFill>
                  <a:srgbClr val="A78BFA"/>
                </a:solidFill>
              </a:rPr>
              <a:t>Port 8883</a:t>
            </a:r>
          </a:p>
          <a:p xmlns:a="http://schemas.openxmlformats.org/drawingml/2006/main">
            <a:r>
              <a:rPr lang="en-US" sz="800" b="1">
                <a:solidFill>
                  <a:srgbClr val="A78BFA"/>
                </a:solidFill>
              </a:rPr>
              <a:t>QoS 1</a:t>
            </a:r>
          </a:p>
        </p:txBody>
      </p:sp>
      <p:sp>
        <p:nvSpPr>
          <p:cNvPr id="100005" name="MQTT"/>
          <p:cNvSpPr txBox="1"/>
          <p:nvPr/>
        </p:nvSpPr>
        <p:spPr>
          <a:xfrm xmlns:a="http://schemas.openxmlformats.org/drawingml/2006/main">
            <a:off x="2952000" y="954000"/>
            <a:ext cx="2088000" cy="24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0A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2  MQTT BROKER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HiveMQ Cloud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Port 8883 TLS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MQTT v3.1.1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QoS Level 1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LWT ONLINE/OFFLINE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TLS Encrypted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Auto-reconnect</a:t>
            </a:r>
          </a:p>
        </p:txBody>
      </p:sp>
      <p:sp>
        <p:nvSpPr>
          <p:cNvPr id="100006" name="ArrowB"/>
          <p:cNvSpPr txBox="1"/>
          <p:nvPr/>
        </p:nvSpPr>
        <p:spPr>
          <a:xfrm xmlns:a="http://schemas.openxmlformats.org/drawingml/2006/main">
            <a:off x="5094000" y="1764000"/>
            <a:ext cx="576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800" b="1">
                <a:solidFill>
                  <a:srgbClr val="60A5FA"/>
                </a:solidFill>
              </a:rPr>
              <a:t>aiomqtt</a:t>
            </a:r>
          </a:p>
          <a:p xmlns:a="http://schemas.openxmlformats.org/drawingml/2006/main">
            <a:r>
              <a:rPr lang="en-US" sz="800" b="1">
                <a:solidFill>
                  <a:srgbClr val="60A5FA"/>
                </a:solidFill>
              </a:rPr>
              <a:t>Python</a:t>
            </a:r>
          </a:p>
          <a:p xmlns:a="http://schemas.openxmlformats.org/drawingml/2006/main">
            <a:r>
              <a:rPr lang="en-US" sz="800" b="1">
                <a:solidFill>
                  <a:srgbClr val="60A5FA"/>
                </a:solidFill>
              </a:rPr>
              <a:t>asyncio</a:t>
            </a:r>
          </a:p>
        </p:txBody>
      </p:sp>
      <p:sp>
        <p:nvSpPr>
          <p:cNvPr id="100007" name="Backend"/>
          <p:cNvSpPr txBox="1"/>
          <p:nvPr/>
        </p:nvSpPr>
        <p:spPr>
          <a:xfrm xmlns:a="http://schemas.openxmlformats.org/drawingml/2006/main">
            <a:off x="5724000" y="954000"/>
            <a:ext cx="2088000" cy="24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E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3  BACKEND API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FastAPI Python 3.11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Uvicorn + asyncio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Pydantic v2 Validation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MQTT Ingestion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Alert Engine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SSE Live Stream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REST 9 Endpoints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Idempotent Migrations</a:t>
            </a:r>
          </a:p>
        </p:txBody>
      </p:sp>
      <p:sp>
        <p:nvSpPr>
          <p:cNvPr id="100008" name="ArrowC"/>
          <p:cNvSpPr txBox="1"/>
          <p:nvPr/>
        </p:nvSpPr>
        <p:spPr>
          <a:xfrm xmlns:a="http://schemas.openxmlformats.org/drawingml/2006/main">
            <a:off x="7866000" y="1764000"/>
            <a:ext cx="576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800" b="1">
                <a:solidFill>
                  <a:srgbClr val="FBB724"/>
                </a:solidFill>
              </a:rPr>
              <a:t>asyncpg</a:t>
            </a:r>
          </a:p>
          <a:p xmlns:a="http://schemas.openxmlformats.org/drawingml/2006/main">
            <a:r>
              <a:rPr lang="en-US" sz="800" b="1">
                <a:solidFill>
                  <a:srgbClr val="FBB724"/>
                </a:solidFill>
              </a:rPr>
              <a:t>SQLAlchemy</a:t>
            </a:r>
          </a:p>
          <a:p xmlns:a="http://schemas.openxmlformats.org/drawingml/2006/main">
            <a:r>
              <a:rPr lang="en-US" sz="800" b="1">
                <a:solidFill>
                  <a:srgbClr val="FBB724"/>
                </a:solidFill>
              </a:rPr>
              <a:t>2.x async</a:t>
            </a:r>
          </a:p>
        </p:txBody>
      </p:sp>
      <p:sp>
        <p:nvSpPr>
          <p:cNvPr id="100009" name="Database"/>
          <p:cNvSpPr txBox="1"/>
          <p:nvPr/>
        </p:nvSpPr>
        <p:spPr>
          <a:xfrm xmlns:a="http://schemas.openxmlformats.org/drawingml/2006/main">
            <a:off x="8496000" y="954000"/>
            <a:ext cx="2088000" cy="24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4  DATABASE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PostgreSQL 15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SQLAlchemy async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devices table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telemetry table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alerts table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thresholds table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(device_id,timestamp)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unique constraint</a:t>
            </a:r>
          </a:p>
        </p:txBody>
      </p:sp>
      <p:sp>
        <p:nvSpPr>
          <p:cNvPr id="100010" name="ArrowD"/>
          <p:cNvSpPr txBox="1"/>
          <p:nvPr/>
        </p:nvSpPr>
        <p:spPr>
          <a:xfrm xmlns:a="http://schemas.openxmlformats.org/drawingml/2006/main">
            <a:off x="10638000" y="1764000"/>
            <a:ext cx="576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800" b="1">
                <a:solidFill>
                  <a:srgbClr val="34D399"/>
                </a:solidFill>
              </a:rPr>
              <a:t>REST API</a:t>
            </a:r>
          </a:p>
          <a:p xmlns:a="http://schemas.openxmlformats.org/drawingml/2006/main">
            <a:r>
              <a:rPr lang="en-US" sz="800" b="1">
                <a:solidFill>
                  <a:srgbClr val="34D399"/>
                </a:solidFill>
              </a:rPr>
              <a:t>+ SSE</a:t>
            </a:r>
          </a:p>
          <a:p xmlns:a="http://schemas.openxmlformats.org/drawingml/2006/main">
            <a:r>
              <a:rPr lang="en-US" sz="800" b="1">
                <a:solidFill>
                  <a:srgbClr val="34D399"/>
                </a:solidFill>
              </a:rPr>
              <a:t>Stream</a:t>
            </a:r>
          </a:p>
        </p:txBody>
      </p:sp>
      <p:sp>
        <p:nvSpPr>
          <p:cNvPr id="100011" name="Client"/>
          <p:cNvSpPr txBox="1"/>
          <p:nvPr/>
        </p:nvSpPr>
        <p:spPr>
          <a:xfrm xmlns:a="http://schemas.openxmlformats.org/drawingml/2006/main">
            <a:off x="11268000" y="954000"/>
            <a:ext cx="2088000" cy="24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2A1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5  CLIENT APPS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Android Java/Kotlin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React 19 TypeScript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Retrofit 2 + OkHttp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MPAndroidChart 24h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Recharts Line Charts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SSE Live Cards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Lottie Splash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SharedPreferences</a:t>
            </a:r>
          </a:p>
        </p:txBody>
      </p:sp>
      <p:sp>
        <p:nvSpPr>
          <p:cNvPr id="100012" name="DataFlowLabel"/>
          <p:cNvSpPr txBox="1"/>
          <p:nvPr/>
        </p:nvSpPr>
        <p:spPr>
          <a:xfrm xmlns:a="http://schemas.openxmlformats.org/drawingml/2006/main">
            <a:off x="180000" y="3492000"/>
            <a:ext cx="792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800" b="1">
                <a:solidFill>
                  <a:srgbClr val="94A3B8"/>
                </a:solidFill>
              </a:rPr>
              <a:t>DATA FLOW:</a:t>
            </a:r>
          </a:p>
        </p:txBody>
      </p:sp>
      <p:sp>
        <p:nvSpPr>
          <p:cNvPr id="100013" name="DataFlow"/>
          <p:cNvSpPr txBox="1"/>
          <p:nvPr/>
        </p:nvSpPr>
        <p:spPr>
          <a:xfrm xmlns:a="http://schemas.openxmlformats.org/drawingml/2006/main">
            <a:off x="1044000" y="3492000"/>
            <a:ext cx="12312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800" b="0">
                <a:solidFill>
                  <a:srgbClr val="CBD5E1"/>
                </a:solidFill>
              </a:rPr>
              <a:t>Sensors Read (1s)  →  JSON Built (10 fields)  →  MQTT TLS Publish (15s)  →  Validated + Stored  →  Alert Evaluated (WARNING/CRITICAL)  →  SSE Pushed  →  Farmer Notified</a:t>
            </a:r>
          </a:p>
        </p:txBody>
      </p:sp>
      <p:sp>
        <p:nvSpPr>
          <p:cNvPr id="100014" name="APIsLabel"/>
          <p:cNvSpPr txBox="1"/>
          <p:nvPr/>
        </p:nvSpPr>
        <p:spPr>
          <a:xfrm xmlns:a="http://schemas.openxmlformats.org/drawingml/2006/main">
            <a:off x="180000" y="3726000"/>
            <a:ext cx="13104000" cy="19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800" b="0">
                <a:solidFill>
                  <a:srgbClr val="86EFAC"/>
                </a:solidFill>
              </a:rPr>
              <a:t>KEY APIs:  GET /devices  |  GET /devices/{id}/status  |  GET /devices/{id}/telemetry  |  GET /alerts/active  |  PATCH /alerts/{id}/resolve  |  PUT /devices/{id}/thresholds  |  SSE /devices/{id}/stream  |  GET /health</a:t>
            </a:r>
          </a:p>
        </p:txBody>
      </p:sp>
      <p:sp>
        <p:nvSpPr>
          <p:cNvPr id="100015" name="BobRule"/>
          <p:cNvSpPr txBox="1"/>
          <p:nvPr/>
        </p:nvSpPr>
        <p:spPr>
          <a:xfrm xmlns:a="http://schemas.openxmlformats.org/drawingml/2006/main">
            <a:off x="180000" y="3996000"/>
            <a:ext cx="13104000" cy="2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7C3AED"/>
              </a:solidFill>
            </a:endParaRPr>
          </a:p>
        </p:txBody>
      </p:sp>
      <p:sp>
        <p:nvSpPr>
          <p:cNvPr id="100016" name="BobLabel"/>
          <p:cNvSpPr txBox="1"/>
          <p:nvPr/>
        </p:nvSpPr>
        <p:spPr>
          <a:xfrm xmlns:a="http://schemas.openxmlformats.org/drawingml/2006/main">
            <a:off x="180000" y="4068000"/>
            <a:ext cx="13104000" cy="19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A78BFA"/>
                </a:solidFill>
              </a:rPr>
              <a:t>IBM BOB TECHNOLOGY — Role in the Development Process</a:t>
            </a:r>
          </a:p>
        </p:txBody>
      </p:sp>
      <p:sp>
        <p:nvSpPr>
          <p:cNvPr id="100017" name="BobPlan"/>
          <p:cNvSpPr txBox="1"/>
          <p:nvPr/>
        </p:nvSpPr>
        <p:spPr>
          <a:xfrm xmlns:a="http://schemas.openxmlformats.org/drawingml/2006/main">
            <a:off x="180000" y="4320000"/>
            <a:ext cx="3168000" cy="20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E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PLANNING &amp; ARCHITECTURE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• Designed full 5-layer system before any code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• Defined exact JSON payload all layers agreed on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• Specified all MQTT topics, DB schema, API contracts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• Designed WARNING/CRITICAL alert model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• Planned (device_id, timestamp) dedup strategy</a:t>
            </a:r>
          </a:p>
        </p:txBody>
      </p:sp>
      <p:sp>
        <p:nvSpPr>
          <p:cNvPr id="100018" name="BobCode"/>
          <p:cNvSpPr txBox="1"/>
          <p:nvPr/>
        </p:nvSpPr>
        <p:spPr>
          <a:xfrm xmlns:a="http://schemas.openxmlformats.org/drawingml/2006/main">
            <a:off x="3420000" y="4320000"/>
            <a:ext cx="3168000" cy="20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01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CODE GENERATION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• All 18 C++ firmware modules (sensors, Wi-Fi, MQTT)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• Entire FastAPI backend — routes, MQTT, SSE, alerts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• React useSyncExternalStore SSE hook for live cards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• Retrofit interface + Android fragments (Java)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• SVG radial gauge with threshold colour transitions</a:t>
            </a:r>
          </a:p>
        </p:txBody>
      </p:sp>
      <p:sp>
        <p:nvSpPr>
          <p:cNvPr id="100019" name="BobDebug"/>
          <p:cNvSpPr txBox="1"/>
          <p:nvPr/>
        </p:nvSpPr>
        <p:spPr>
          <a:xfrm xmlns:a="http://schemas.openxmlformats.org/drawingml/2006/main">
            <a:off x="6660000" y="4320000"/>
            <a:ext cx="3168000" cy="20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DEBUGGING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• Silent data loss: str(bytes) → .decode() in MQTT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• Hardware damage prevented: voltage divider for MQ ADC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• Android NullPointerException: ViewBinding lifecycle fix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• SSE DB pool exhaustion: close session before sleep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• GPS freeze: non-blocking byte-by-byte UART drain</a:t>
            </a:r>
          </a:p>
        </p:txBody>
      </p:sp>
      <p:sp>
        <p:nvSpPr>
          <p:cNvPr id="100020" name="BobTest"/>
          <p:cNvSpPr txBox="1"/>
          <p:nvPr/>
        </p:nvSpPr>
        <p:spPr>
          <a:xfrm xmlns:a="http://schemas.openxmlformats.org/drawingml/2006/main">
            <a:off x="9900000" y="4320000"/>
            <a:ext cx="3384000" cy="20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0A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TESTING &amp; DOCUMENTATION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• 24 pytest tests on in-memory SQLite (no real DB)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• Tests: schema validation, alerts, dedup, all endpoints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• 8 documentation files: wiring, API, deploy, config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• Idempotent startup schema migrations (zero data loss)</a:t>
            </a:r>
          </a:p>
          <a:p xmlns:a="http://schemas.openxmlformats.org/drawingml/2006/main">
            <a:r>
              <a:rPr lang="en-US" sz="900" b="0">
                <a:solidFill>
                  <a:srgbClr val="FFFFFF"/>
                </a:solidFill>
                <a:latin typeface="Calibri"/>
                <a:ea typeface="Calibri"/>
              </a:rPr>
              <a:t>• 48-decision engineering log (DECISIONS.md)</a:t>
            </a:r>
          </a:p>
        </p:txBody>
      </p:sp>
      <p:sp>
        <p:nvSpPr>
          <p:cNvPr id="100021" name="ImpactStrip"/>
          <p:cNvSpPr txBox="1"/>
          <p:nvPr/>
        </p:nvSpPr>
        <p:spPr>
          <a:xfrm xmlns:a="http://schemas.openxmlformats.org/drawingml/2006/main">
            <a:off x="180000" y="6480000"/>
            <a:ext cx="13104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0A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C4B5FD"/>
                </a:solidFill>
                <a:latin typeface="Calibri"/>
                <a:ea typeface="Calibri"/>
              </a:rPr>
              <a:t>IBM Bob Impact:   4 Tech Stacks Covered  |  18 Firmware Modules Generated  |  24 Automated Tests Written  |  8 Documentation Files Authored  |  5 Critical Bugs Fixed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2026-10-23T15:47:27Z</dcterms:created>
  <cp:lastModifiedBy>OfficeCLI</cp:lastModifiedBy>
  <dcterms:modified xsi:type="dcterms:W3CDTF">2026-10-23T15:47:27Z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1.0.144</vt:lpwstr>
  </op:property>
  <op:property fmtid="{D5CDD505-2E9C-101B-9397-08002B2CF9AE}" pid="3" name="OfficeCLI.LastModified">
    <vt:lpwstr xmlns:vt="http://schemas.openxmlformats.org/officeDocument/2006/docPropsVTypes">2026-10-23T15:47:28Z</vt:lpwstr>
  </op:property>
</op:Properties>
</file>