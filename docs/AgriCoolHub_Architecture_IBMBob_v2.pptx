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e8368098b2e4c52" /><Relationship Type="http://schemas.openxmlformats.org/package/2006/relationships/metadata/core-properties" Target="/docProps/core.xml" Id="R0c91dfa1db8a406a" /><Relationship Type="http://schemas.openxmlformats.org/officeDocument/2006/relationships/extended-properties" Target="/docProps/app.xml" Id="R6b21ad8d2abb4b7e" /><Relationship Type="http://schemas.openxmlformats.org/officeDocument/2006/relationships/custom-properties" Target="/docProps/custom.xml" Id="R42bfed86f6574e0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b793324508b486b"/>
  </p:notesMasterIdLst>
  <p:sldIdLst>
    <p:sldId id="256" r:id="R344d076a981d4c0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44d076a981d4c0f" /><Relationship Type="http://schemas.openxmlformats.org/officeDocument/2006/relationships/notesMaster" Target="/ppt/notesMasters/notesMaster1.xml" Id="Rfb793324508b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20d3e62392d44e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aa8922620604a06" /><Relationship Type="http://schemas.openxmlformats.org/officeDocument/2006/relationships/slide" Target="/ppt/slides/slide1.xml" Id="R41513524ba994c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Top half: 5-layer architecture flow with data flow bar and APIs. Bottom half: IBM Bob role — Planning, Code Generation, Debugging, Testing &amp; Docs.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ddfaa4a0045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3a02d4e6b42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2119f47fa43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36845ff1642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020a850ba44a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77fbadde598405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8a9b7cdf94439" /><Relationship Type="http://schemas.openxmlformats.org/officeDocument/2006/relationships/notesSlide" Target="/ppt/notesSlides/notesSlide1.xml" Id="Ref1e7184b27042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F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E3A5F"/>
              </a:solidFill>
            </a:endParaRPr>
          </a:p>
        </p:txBody>
      </p:sp>
      <p:sp>
        <p:nvSpPr>
          <p:cNvPr id="100001" name="SlideTitle"/>
          <p:cNvSpPr txBox="1"/>
          <p:nvPr/>
        </p:nvSpPr>
        <p:spPr>
          <a:xfrm xmlns:a="http://schemas.openxmlformats.org/drawingml/2006/main">
            <a:off x="216000" y="72000"/>
            <a:ext cx="86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Segoe UI"/>
                <a:ea typeface="Segoe UI"/>
              </a:rPr>
              <a:t>Project Architecture  &amp;  IBM Bob Technology</a:t>
            </a:r>
          </a:p>
        </p:txBody>
      </p:sp>
      <p:sp>
        <p:nvSpPr>
          <p:cNvPr id="100002" name="TagRight"/>
          <p:cNvSpPr txBox="1"/>
          <p:nvPr/>
        </p:nvSpPr>
        <p:spPr>
          <a:xfrm xmlns:a="http://schemas.openxmlformats.org/drawingml/2006/main">
            <a:off x="8820000" y="126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3C5FD"/>
                </a:solidFill>
                <a:latin typeface="Segoe UI"/>
                <a:ea typeface="Segoe UI"/>
              </a:rPr>
              <a:t>Solar Hybrid Agri Cool Hub  |  IBM SkillsBuild</a:t>
            </a:r>
          </a:p>
        </p:txBody>
      </p:sp>
      <p:sp>
        <p:nvSpPr>
          <p:cNvPr id="100003" name="ArchHeading"/>
          <p:cNvSpPr txBox="1"/>
          <p:nvPr/>
        </p:nvSpPr>
        <p:spPr>
          <a:xfrm xmlns:a="http://schemas.openxmlformats.org/drawingml/2006/main">
            <a:off x="180000" y="594000"/>
            <a:ext cx="57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E3A5F"/>
                </a:solidFill>
                <a:latin typeface="Segoe UI"/>
                <a:ea typeface="Segoe UI"/>
              </a:rPr>
              <a:t>ARCHITECTURE  —  How Data Flows</a:t>
            </a:r>
          </a:p>
        </p:txBody>
      </p:sp>
      <p:sp>
        <p:nvSpPr>
          <p:cNvPr id="100004" name="Box1"/>
          <p:cNvSpPr txBox="1"/>
          <p:nvPr/>
        </p:nvSpPr>
        <p:spPr>
          <a:xfrm xmlns:a="http://schemas.openxmlformats.org/drawingml/2006/main">
            <a:off x="180000" y="864000"/>
            <a:ext cx="201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E3A5F"/>
                </a:solidFill>
                <a:latin typeface="Segoe UI"/>
                <a:ea typeface="Segoe UI"/>
              </a:rPr>
              <a:t>🔧  HARDWARE</a:t>
            </a:r>
          </a:p>
          <a:p xmlns:a="http://schemas.openxmlformats.org/drawingml/2006/main">
            <a:r>
              <a:rPr lang="en-US" sz="1000" b="0">
                <a:solidFill>
                  <a:srgbClr val="1E3A5F"/>
                </a:solidFill>
                <a:latin typeface="Segoe UI"/>
                <a:ea typeface="Segoe UI"/>
              </a:rPr>
              <a:t>ESP32-S3  |  C++</a:t>
            </a:r>
          </a:p>
          <a:p xmlns:a="http://schemas.openxmlformats.org/drawingml/2006/main">
            <a:r>
              <a:rPr lang="en-US" sz="1000" b="0">
                <a:solidFill>
                  <a:srgbClr val="1E3A5F"/>
                </a:solidFill>
                <a:latin typeface="Segoe UI"/>
                <a:ea typeface="Segoe UI"/>
              </a:rPr>
              <a:t>SHT4x · MQ-3/135/4</a:t>
            </a:r>
          </a:p>
          <a:p xmlns:a="http://schemas.openxmlformats.org/drawingml/2006/main">
            <a:r>
              <a:rPr lang="en-US" sz="1000" b="0">
                <a:solidFill>
                  <a:srgbClr val="1E3A5F"/>
                </a:solidFill>
                <a:latin typeface="Segoe UI"/>
                <a:ea typeface="Segoe UI"/>
              </a:rPr>
              <a:t>INA219 · GPS · RTC</a:t>
            </a:r>
          </a:p>
        </p:txBody>
      </p:sp>
      <p:sp>
        <p:nvSpPr>
          <p:cNvPr id="100005" name="Arr1"/>
          <p:cNvSpPr txBox="1"/>
          <p:nvPr/>
        </p:nvSpPr>
        <p:spPr>
          <a:xfrm xmlns:a="http://schemas.openxmlformats.org/drawingml/2006/main">
            <a:off x="2250000" y="1332000"/>
            <a:ext cx="4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6B7280"/>
                </a:solidFill>
                <a:latin typeface="Segoe UI"/>
                <a:ea typeface="Segoe UI"/>
              </a:rPr>
              <a:t>► MQTT TLS</a:t>
            </a:r>
          </a:p>
        </p:txBody>
      </p:sp>
      <p:sp>
        <p:nvSpPr>
          <p:cNvPr id="100006" name="Box2"/>
          <p:cNvSpPr txBox="1"/>
          <p:nvPr/>
        </p:nvSpPr>
        <p:spPr>
          <a:xfrm xmlns:a="http://schemas.openxmlformats.org/drawingml/2006/main">
            <a:off x="2754000" y="864000"/>
            <a:ext cx="201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4C1D95"/>
                </a:solidFill>
                <a:latin typeface="Segoe UI"/>
                <a:ea typeface="Segoe UI"/>
              </a:rPr>
              <a:t>☁️  MQTT BROKER</a:t>
            </a:r>
          </a:p>
          <a:p xmlns:a="http://schemas.openxmlformats.org/drawingml/2006/main">
            <a:r>
              <a:rPr lang="en-US" sz="1000" b="0">
                <a:solidFill>
                  <a:srgbClr val="4C1D95"/>
                </a:solidFill>
                <a:latin typeface="Segoe UI"/>
                <a:ea typeface="Segoe UI"/>
              </a:rPr>
              <a:t>HiveMQ Cloud</a:t>
            </a:r>
          </a:p>
          <a:p xmlns:a="http://schemas.openxmlformats.org/drawingml/2006/main">
            <a:r>
              <a:rPr lang="en-US" sz="1000" b="0">
                <a:solidFill>
                  <a:srgbClr val="4C1D95"/>
                </a:solidFill>
                <a:latin typeface="Segoe UI"/>
                <a:ea typeface="Segoe UI"/>
              </a:rPr>
              <a:t>QoS 1  |  LWT</a:t>
            </a:r>
          </a:p>
          <a:p xmlns:a="http://schemas.openxmlformats.org/drawingml/2006/main">
            <a:r>
              <a:rPr lang="en-US" sz="1000" b="0">
                <a:solidFill>
                  <a:srgbClr val="4C1D95"/>
                </a:solidFill>
                <a:latin typeface="Segoe UI"/>
                <a:ea typeface="Segoe UI"/>
              </a:rPr>
              <a:t>TLS Port 8883</a:t>
            </a:r>
          </a:p>
        </p:txBody>
      </p:sp>
      <p:sp>
        <p:nvSpPr>
          <p:cNvPr id="100007" name="Arr2"/>
          <p:cNvSpPr txBox="1"/>
          <p:nvPr/>
        </p:nvSpPr>
        <p:spPr>
          <a:xfrm xmlns:a="http://schemas.openxmlformats.org/drawingml/2006/main">
            <a:off x="4824000" y="1332000"/>
            <a:ext cx="4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6B7280"/>
                </a:solidFill>
                <a:latin typeface="Segoe UI"/>
                <a:ea typeface="Segoe UI"/>
              </a:rPr>
              <a:t>► aiomqtt</a:t>
            </a:r>
          </a:p>
        </p:txBody>
      </p:sp>
      <p:sp>
        <p:nvSpPr>
          <p:cNvPr id="100008" name="Box3"/>
          <p:cNvSpPr txBox="1"/>
          <p:nvPr/>
        </p:nvSpPr>
        <p:spPr>
          <a:xfrm xmlns:a="http://schemas.openxmlformats.org/drawingml/2006/main">
            <a:off x="5328000" y="864000"/>
            <a:ext cx="201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E40AF"/>
                </a:solidFill>
                <a:latin typeface="Segoe UI"/>
                <a:ea typeface="Segoe UI"/>
              </a:rPr>
              <a:t>⚙️  BACKEND API</a:t>
            </a:r>
          </a:p>
          <a:p xmlns:a="http://schemas.openxmlformats.org/drawingml/2006/main">
            <a:r>
              <a:rPr lang="en-US" sz="1000" b="0">
                <a:solidFill>
                  <a:srgbClr val="1E40AF"/>
                </a:solidFill>
                <a:latin typeface="Segoe UI"/>
                <a:ea typeface="Segoe UI"/>
              </a:rPr>
              <a:t>FastAPI · Python 3.11</a:t>
            </a:r>
          </a:p>
          <a:p xmlns:a="http://schemas.openxmlformats.org/drawingml/2006/main">
            <a:r>
              <a:rPr lang="en-US" sz="1000" b="0">
                <a:solidFill>
                  <a:srgbClr val="1E40AF"/>
                </a:solidFill>
                <a:latin typeface="Segoe UI"/>
                <a:ea typeface="Segoe UI"/>
              </a:rPr>
              <a:t>Alert Engine · SSE</a:t>
            </a:r>
          </a:p>
          <a:p xmlns:a="http://schemas.openxmlformats.org/drawingml/2006/main">
            <a:r>
              <a:rPr lang="en-US" sz="1000" b="0">
                <a:solidFill>
                  <a:srgbClr val="1E40AF"/>
                </a:solidFill>
                <a:latin typeface="Segoe UI"/>
                <a:ea typeface="Segoe UI"/>
              </a:rPr>
              <a:t>Pydantic Validation</a:t>
            </a:r>
          </a:p>
        </p:txBody>
      </p:sp>
      <p:sp>
        <p:nvSpPr>
          <p:cNvPr id="100009" name="Arr3"/>
          <p:cNvSpPr txBox="1"/>
          <p:nvPr/>
        </p:nvSpPr>
        <p:spPr>
          <a:xfrm xmlns:a="http://schemas.openxmlformats.org/drawingml/2006/main">
            <a:off x="7398000" y="1332000"/>
            <a:ext cx="4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6B7280"/>
                </a:solidFill>
                <a:latin typeface="Segoe UI"/>
                <a:ea typeface="Segoe UI"/>
              </a:rPr>
              <a:t>► asyncpg</a:t>
            </a:r>
          </a:p>
        </p:txBody>
      </p:sp>
      <p:sp>
        <p:nvSpPr>
          <p:cNvPr id="100010" name="Box4"/>
          <p:cNvSpPr txBox="1"/>
          <p:nvPr/>
        </p:nvSpPr>
        <p:spPr>
          <a:xfrm xmlns:a="http://schemas.openxmlformats.org/drawingml/2006/main">
            <a:off x="7902000" y="864000"/>
            <a:ext cx="201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78350F"/>
                </a:solidFill>
                <a:latin typeface="Segoe UI"/>
                <a:ea typeface="Segoe UI"/>
              </a:rPr>
              <a:t>🗄️  DATABASE</a:t>
            </a:r>
          </a:p>
          <a:p xmlns:a="http://schemas.openxmlformats.org/drawingml/2006/main">
            <a:r>
              <a:rPr lang="en-US" sz="1000" b="0">
                <a:solidFill>
                  <a:srgbClr val="78350F"/>
                </a:solidFill>
                <a:latin typeface="Segoe UI"/>
                <a:ea typeface="Segoe UI"/>
              </a:rPr>
              <a:t>PostgreSQL 15</a:t>
            </a:r>
          </a:p>
          <a:p xmlns:a="http://schemas.openxmlformats.org/drawingml/2006/main">
            <a:r>
              <a:rPr lang="en-US" sz="1000" b="0">
                <a:solidFill>
                  <a:srgbClr val="78350F"/>
                </a:solidFill>
                <a:latin typeface="Segoe UI"/>
                <a:ea typeface="Segoe UI"/>
              </a:rPr>
              <a:t>devices · telemetry</a:t>
            </a:r>
          </a:p>
          <a:p xmlns:a="http://schemas.openxmlformats.org/drawingml/2006/main">
            <a:r>
              <a:rPr lang="en-US" sz="1000" b="0">
                <a:solidFill>
                  <a:srgbClr val="78350F"/>
                </a:solidFill>
                <a:latin typeface="Segoe UI"/>
                <a:ea typeface="Segoe UI"/>
              </a:rPr>
              <a:t>alerts · thresholds</a:t>
            </a:r>
          </a:p>
        </p:txBody>
      </p:sp>
      <p:sp>
        <p:nvSpPr>
          <p:cNvPr id="100011" name="Arr4"/>
          <p:cNvSpPr txBox="1"/>
          <p:nvPr/>
        </p:nvSpPr>
        <p:spPr>
          <a:xfrm xmlns:a="http://schemas.openxmlformats.org/drawingml/2006/main">
            <a:off x="9972000" y="1332000"/>
            <a:ext cx="5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800" b="1">
                <a:solidFill>
                  <a:srgbClr val="6B7280"/>
                </a:solidFill>
                <a:latin typeface="Segoe UI"/>
                <a:ea typeface="Segoe UI"/>
              </a:rPr>
              <a:t>► REST+SSE</a:t>
            </a:r>
          </a:p>
        </p:txBody>
      </p:sp>
      <p:sp>
        <p:nvSpPr>
          <p:cNvPr id="100012" name="Box5"/>
          <p:cNvSpPr txBox="1"/>
          <p:nvPr/>
        </p:nvSpPr>
        <p:spPr>
          <a:xfrm xmlns:a="http://schemas.openxmlformats.org/drawingml/2006/main">
            <a:off x="10566000" y="864000"/>
            <a:ext cx="1476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065F46"/>
                </a:solidFill>
                <a:latin typeface="Segoe UI"/>
                <a:ea typeface="Segoe UI"/>
              </a:rPr>
              <a:t>📱  CLIENT APPS</a:t>
            </a:r>
          </a:p>
          <a:p xmlns:a="http://schemas.openxmlformats.org/drawingml/2006/main">
            <a:r>
              <a:rPr lang="en-US" sz="1000" b="0">
                <a:solidFill>
                  <a:srgbClr val="065F46"/>
                </a:solidFill>
                <a:latin typeface="Segoe UI"/>
                <a:ea typeface="Segoe UI"/>
              </a:rPr>
              <a:t>Android  |  React</a:t>
            </a:r>
          </a:p>
          <a:p xmlns:a="http://schemas.openxmlformats.org/drawingml/2006/main">
            <a:r>
              <a:rPr lang="en-US" sz="1000" b="0">
                <a:solidFill>
                  <a:srgbClr val="065F46"/>
                </a:solidFill>
                <a:latin typeface="Segoe UI"/>
                <a:ea typeface="Segoe UI"/>
              </a:rPr>
              <a:t>Retrofit · Recharts</a:t>
            </a:r>
          </a:p>
          <a:p xmlns:a="http://schemas.openxmlformats.org/drawingml/2006/main">
            <a:r>
              <a:rPr lang="en-US" sz="1000" b="0">
                <a:solidFill>
                  <a:srgbClr val="065F46"/>
                </a:solidFill>
                <a:latin typeface="Segoe UI"/>
                <a:ea typeface="Segoe UI"/>
              </a:rPr>
              <a:t>SSE Live Cards</a:t>
            </a:r>
          </a:p>
        </p:txBody>
      </p:sp>
      <p:sp>
        <p:nvSpPr>
          <p:cNvPr id="100013" name="FlowBar"/>
          <p:cNvSpPr txBox="1"/>
          <p:nvPr/>
        </p:nvSpPr>
        <p:spPr>
          <a:xfrm xmlns:a="http://schemas.openxmlformats.org/drawingml/2006/main">
            <a:off x="180000" y="2088000"/>
            <a:ext cx="1188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374151"/>
                </a:solidFill>
                <a:latin typeface="Segoe UI"/>
                <a:ea typeface="Segoe UI"/>
              </a:rPr>
              <a:t>Sensors  →  JSON Payload  →  MQTT Publish (15s)  →  Store in DB  →  Evaluate Alerts  →  SSE Push  →  Farmer Notified</a:t>
            </a:r>
          </a:p>
        </p:txBody>
      </p:sp>
      <p:sp>
        <p:nvSpPr>
          <p:cNvPr id="100014" name="APIBar"/>
          <p:cNvSpPr txBox="1"/>
          <p:nvPr/>
        </p:nvSpPr>
        <p:spPr>
          <a:xfrm xmlns:a="http://schemas.openxmlformats.org/drawingml/2006/main">
            <a:off x="180000" y="2376000"/>
            <a:ext cx="118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1E3A5F"/>
                </a:solidFill>
                <a:latin typeface="Segoe UI"/>
                <a:ea typeface="Segoe UI"/>
              </a:rPr>
              <a:t>APIs:  GET /devices   GET /status   GET /telemetry   GET /alerts/active   PATCH /alerts/{id}/resolve   PUT /thresholds   SSE /stream   GET /health</a:t>
            </a:r>
          </a:p>
        </p:txBody>
      </p:sp>
      <p:sp>
        <p:nvSpPr>
          <p:cNvPr id="100015" name="Divider"/>
          <p:cNvSpPr txBox="1"/>
          <p:nvPr/>
        </p:nvSpPr>
        <p:spPr>
          <a:xfrm xmlns:a="http://schemas.openxmlformats.org/drawingml/2006/main">
            <a:off x="0" y="2682000"/>
            <a:ext cx="121932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CBD5E1"/>
              </a:solidFill>
            </a:endParaRPr>
          </a:p>
        </p:txBody>
      </p:sp>
      <p:sp>
        <p:nvSpPr>
          <p:cNvPr id="100016" name="BobHeading"/>
          <p:cNvSpPr txBox="1"/>
          <p:nvPr/>
        </p:nvSpPr>
        <p:spPr>
          <a:xfrm xmlns:a="http://schemas.openxmlformats.org/drawingml/2006/main">
            <a:off x="180000" y="2772000"/>
            <a:ext cx="57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5B21B6"/>
                </a:solidFill>
                <a:latin typeface="Segoe UI"/>
                <a:ea typeface="Segoe UI"/>
              </a:rPr>
              <a:t>IBM BOB  —  Role in Development</a:t>
            </a:r>
          </a:p>
        </p:txBody>
      </p:sp>
      <p:sp>
        <p:nvSpPr>
          <p:cNvPr id="100017" name="BobPlan"/>
          <p:cNvSpPr txBox="1"/>
          <p:nvPr/>
        </p:nvSpPr>
        <p:spPr>
          <a:xfrm xmlns:a="http://schemas.openxmlformats.org/drawingml/2006/main">
            <a:off x="180000" y="3042000"/>
            <a:ext cx="2736000" cy="18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1E40AF"/>
                </a:solidFill>
                <a:latin typeface="Segoe UI"/>
                <a:ea typeface="Segoe UI"/>
              </a:rPr>
              <a:t>🗺️  PLANNING</a:t>
            </a:r>
          </a:p>
          <a:p xmlns:a="http://schemas.openxmlformats.org/drawingml/2006/main">
            <a:r>
              <a:rPr lang="en-US" sz="1000" b="0">
                <a:solidFill>
                  <a:srgbClr val="1E40AF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1E40AF"/>
                </a:solidFill>
                <a:latin typeface="Segoe UI"/>
                <a:ea typeface="Segoe UI"/>
              </a:rPr>
              <a:t>Designed full 5-layer architecture before any code. Defined JSON schema, MQTT topics, DB tables &amp; WARNING/CRITICAL alert model.</a:t>
            </a:r>
          </a:p>
        </p:txBody>
      </p:sp>
      <p:sp>
        <p:nvSpPr>
          <p:cNvPr id="100018" name="BobCode"/>
          <p:cNvSpPr txBox="1"/>
          <p:nvPr/>
        </p:nvSpPr>
        <p:spPr>
          <a:xfrm xmlns:a="http://schemas.openxmlformats.org/drawingml/2006/main">
            <a:off x="3060000" y="3042000"/>
            <a:ext cx="2736000" cy="18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065F46"/>
                </a:solidFill>
                <a:latin typeface="Segoe UI"/>
                <a:ea typeface="Segoe UI"/>
              </a:rPr>
              <a:t>💻  CODE GENERATION</a:t>
            </a:r>
          </a:p>
          <a:p xmlns:a="http://schemas.openxmlformats.org/drawingml/2006/main">
            <a:r>
              <a:rPr lang="en-US" sz="1000" b="0">
                <a:solidFill>
                  <a:srgbClr val="065F46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065F46"/>
                </a:solidFill>
                <a:latin typeface="Segoe UI"/>
                <a:ea typeface="Segoe UI"/>
              </a:rPr>
              <a:t>18 C++ firmware modules. Full FastAPI backend. React SSE live hook. Android Retrofit interface &amp; all fragments (Java).</a:t>
            </a:r>
          </a:p>
        </p:txBody>
      </p:sp>
      <p:sp>
        <p:nvSpPr>
          <p:cNvPr id="100019" name="BobDebug"/>
          <p:cNvSpPr txBox="1"/>
          <p:nvPr/>
        </p:nvSpPr>
        <p:spPr>
          <a:xfrm xmlns:a="http://schemas.openxmlformats.org/drawingml/2006/main">
            <a:off x="5940000" y="3042000"/>
            <a:ext cx="2736000" cy="18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2400E"/>
                </a:solidFill>
                <a:latin typeface="Segoe UI"/>
                <a:ea typeface="Segoe UI"/>
              </a:rPr>
              <a:t>🐛  DEBUGGING</a:t>
            </a:r>
          </a:p>
          <a:p xmlns:a="http://schemas.openxmlformats.org/drawingml/2006/main">
            <a:r>
              <a:rPr lang="en-US" sz="1000" b="0">
                <a:solidFill>
                  <a:srgbClr val="92400E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92400E"/>
                </a:solidFill>
                <a:latin typeface="Segoe UI"/>
                <a:ea typeface="Segoe UI"/>
              </a:rPr>
              <a:t>Fixed silent MQTT data loss (bytes decode bug). Prevented ESP32 ADC damage. Fixed Android crash &amp; SSE DB pool exhaustion.</a:t>
            </a:r>
          </a:p>
        </p:txBody>
      </p:sp>
      <p:sp>
        <p:nvSpPr>
          <p:cNvPr id="100020" name="BobTest"/>
          <p:cNvSpPr txBox="1"/>
          <p:nvPr/>
        </p:nvSpPr>
        <p:spPr>
          <a:xfrm xmlns:a="http://schemas.openxmlformats.org/drawingml/2006/main">
            <a:off x="8820000" y="3042000"/>
            <a:ext cx="3240000" cy="18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4C1D95"/>
                </a:solidFill>
                <a:latin typeface="Segoe UI"/>
                <a:ea typeface="Segoe UI"/>
              </a:rPr>
              <a:t>✅  TESTING &amp; DOCS</a:t>
            </a:r>
          </a:p>
          <a:p xmlns:a="http://schemas.openxmlformats.org/drawingml/2006/main">
            <a:r>
              <a:rPr lang="en-US" sz="1000" b="0">
                <a:solidFill>
                  <a:srgbClr val="4C1D95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000" b="0">
                <a:solidFill>
                  <a:srgbClr val="4C1D95"/>
                </a:solidFill>
                <a:latin typeface="Segoe UI"/>
                <a:ea typeface="Segoe UI"/>
              </a:rPr>
              <a:t>24 pytest tests on SQLite. 8 full documentation files. Idempotent startup migrations. 48-decision engineering log.</a:t>
            </a:r>
          </a:p>
        </p:txBody>
      </p:sp>
      <p:sp>
        <p:nvSpPr>
          <p:cNvPr id="100021" name="BottomBar"/>
          <p:cNvSpPr txBox="1"/>
          <p:nvPr/>
        </p:nvSpPr>
        <p:spPr>
          <a:xfrm xmlns:a="http://schemas.openxmlformats.org/drawingml/2006/main">
            <a:off x="0" y="4950000"/>
            <a:ext cx="121932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FFFFFF"/>
                </a:solidFill>
                <a:latin typeface="Segoe UI"/>
                <a:ea typeface="Segoe UI"/>
              </a:rPr>
              <a:t>4 Tech Stacks   |   18 Firmware Modules   |   24 Automated Tests   |   8 Documentation Files   |   5 Critical Bugs Fixed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2026-10-23T15:52:29Z</dcterms:created>
  <cp:lastModifiedBy>OfficeCLI</cp:lastModifiedBy>
  <dcterms:modified xsi:type="dcterms:W3CDTF">2026-10-23T15:52:29Z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2026-10-23T15:52:31Z</vt:lpwstr>
  </op:property>
</op:Properties>
</file>